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8"/>
    <p:restoredTop sz="94664"/>
  </p:normalViewPr>
  <p:slideViewPr>
    <p:cSldViewPr snapToGrid="0" snapToObjects="1">
      <p:cViewPr>
        <p:scale>
          <a:sx n="25" d="100"/>
          <a:sy n="25" d="100"/>
        </p:scale>
        <p:origin x="856" y="32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840660766743834E-2"/>
          <c:y val="5.2589435023380074E-3"/>
          <c:w val="0.93015932225726161"/>
          <c:h val="0.86047198349915355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57-4CB6-BB4A-C8F2D35BCEC5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Sheet1!$B$2:$B$21</c:f>
              <c:numCache>
                <c:formatCode>General</c:formatCode>
                <c:ptCount val="20"/>
                <c:pt idx="0">
                  <c:v>5</c:v>
                </c:pt>
                <c:pt idx="1">
                  <c:v>4.5</c:v>
                </c:pt>
                <c:pt idx="2">
                  <c:v>4</c:v>
                </c:pt>
                <c:pt idx="3">
                  <c:v>3.8</c:v>
                </c:pt>
                <c:pt idx="4">
                  <c:v>3.5</c:v>
                </c:pt>
                <c:pt idx="5">
                  <c:v>3.2</c:v>
                </c:pt>
                <c:pt idx="6">
                  <c:v>3</c:v>
                </c:pt>
                <c:pt idx="7">
                  <c:v>2.8</c:v>
                </c:pt>
                <c:pt idx="8">
                  <c:v>2.6</c:v>
                </c:pt>
                <c:pt idx="9">
                  <c:v>2.5</c:v>
                </c:pt>
                <c:pt idx="10">
                  <c:v>2.2999999999999998</c:v>
                </c:pt>
                <c:pt idx="11">
                  <c:v>2.2000000000000002</c:v>
                </c:pt>
                <c:pt idx="12">
                  <c:v>2.1</c:v>
                </c:pt>
                <c:pt idx="13">
                  <c:v>2</c:v>
                </c:pt>
                <c:pt idx="14">
                  <c:v>1.9</c:v>
                </c:pt>
                <c:pt idx="15">
                  <c:v>1.85</c:v>
                </c:pt>
                <c:pt idx="16">
                  <c:v>1.8</c:v>
                </c:pt>
                <c:pt idx="17">
                  <c:v>1.75</c:v>
                </c:pt>
                <c:pt idx="18">
                  <c:v>1.7</c:v>
                </c:pt>
                <c:pt idx="19">
                  <c:v>1.65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57-4CB6-BB4A-C8F2D35BC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9549040"/>
        <c:axId val="1346793296"/>
      </c:lineChart>
      <c:catAx>
        <c:axId val="13495490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6793296"/>
        <c:crosses val="autoZero"/>
        <c:auto val="1"/>
        <c:lblAlgn val="ctr"/>
        <c:lblOffset val="100"/>
        <c:noMultiLvlLbl val="0"/>
      </c:catAx>
      <c:valAx>
        <c:axId val="1346793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54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15014-EBAF-A391-6672-ACCC9EF1EEF3}"/>
              </a:ext>
            </a:extLst>
          </p:cNvPr>
          <p:cNvSpPr txBox="1"/>
          <p:nvPr/>
        </p:nvSpPr>
        <p:spPr>
          <a:xfrm>
            <a:off x="29324604" y="4702821"/>
            <a:ext cx="14101483" cy="2377061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36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vs Epoch</a:t>
            </a: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40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 </a:t>
            </a: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4000" spc="8" dirty="0" err="1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Comparision</a:t>
            </a:r>
            <a:endParaRPr lang="en-US" sz="40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40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40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This study compares multiple deep learning algorithms for fracture detection.</a:t>
            </a: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YOLOv8 is best for real-time applications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Faster R-CNN provides high precision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4000" dirty="0" err="1">
                <a:latin typeface="Arial" panose="020B0604020202020204" pitchFamily="34" charset="0"/>
                <a:cs typeface="Arial" panose="020B0604020202020204" pitchFamily="34" charset="0"/>
              </a:rPr>
              <a:t>RetinaNet</a:t>
            </a: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 handles class imbalance effectively</a:t>
            </a: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Overall, deep learning models significantly improve fracture detection performance and can support medical professionals in diagnosis.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Joseph Redmon et al.,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“You Only Look Once: Unified, Real-Time Object Detection”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Proceedings of the IEEE Conference on Computer Vision and Pattern Recognition (CVPR), 2016.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Tsung-Yi Lin et al.,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“Focal Loss for Dense Object Detection”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Proceedings of the IEEE International Conference on Computer Vision (ICCV), 2017.</a:t>
            </a:r>
            <a:endParaRPr lang="en-US" sz="4000" b="1" cap="all" spc="2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66810A-8F39-71DA-0801-66ACBA04D4A5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87ED66-C636-9566-A15C-F3DC1C022D23}"/>
              </a:ext>
            </a:extLst>
          </p:cNvPr>
          <p:cNvSpPr txBox="1">
            <a:spLocks/>
          </p:cNvSpPr>
          <p:nvPr/>
        </p:nvSpPr>
        <p:spPr>
          <a:xfrm>
            <a:off x="8767482" y="-194232"/>
            <a:ext cx="32347862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791">
              <a:spcBef>
                <a:spcPts val="156"/>
              </a:spcBef>
              <a:tabLst>
                <a:tab pos="4592769" algn="l"/>
              </a:tabLst>
            </a:pPr>
            <a:r>
              <a:rPr lang="en-US" sz="7200" b="1" dirty="0">
                <a:solidFill>
                  <a:schemeClr val="bg1"/>
                </a:solidFill>
              </a:rPr>
              <a:t>FRACTURE DETECTION FROM X-RAY IMAGESUSING DEEP LEARNING ALGORITHMS</a:t>
            </a:r>
            <a:endParaRPr lang="en-US" sz="7200" b="1" cap="all" spc="-16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AC8D8C5-6C07-5064-459D-377C6F1361C5}"/>
              </a:ext>
            </a:extLst>
          </p:cNvPr>
          <p:cNvSpPr txBox="1"/>
          <p:nvPr/>
        </p:nvSpPr>
        <p:spPr>
          <a:xfrm>
            <a:off x="10744200" y="1095977"/>
            <a:ext cx="21484807" cy="1714934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5400" spc="16" dirty="0">
                <a:solidFill>
                  <a:srgbClr val="FFFFFF"/>
                </a:solidFill>
                <a:latin typeface="Arial"/>
                <a:cs typeface="Arial"/>
              </a:rPr>
              <a:t>24BCE1445, 24BCE1450</a:t>
            </a:r>
          </a:p>
          <a:p>
            <a:pPr marL="20791" algn="ctr">
              <a:spcBef>
                <a:spcPts val="213"/>
              </a:spcBef>
            </a:pPr>
            <a:endParaRPr sz="5400" dirty="0">
              <a:latin typeface="Arial"/>
              <a:cs typeface="Arial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2B9159F7-5CC4-4720-9573-5F4E0DB50190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" name="Picture 9" descr="See the source image">
            <a:extLst>
              <a:ext uri="{FF2B5EF4-FFF2-40B4-BE49-F238E27FC236}">
                <a16:creationId xmlns:a16="http://schemas.microsoft.com/office/drawing/2014/main" id="{9D5FE3AC-C750-F1A8-7F29-288C81A0980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bject 6">
            <a:extLst>
              <a:ext uri="{FF2B5EF4-FFF2-40B4-BE49-F238E27FC236}">
                <a16:creationId xmlns:a16="http://schemas.microsoft.com/office/drawing/2014/main" id="{C74659D9-716C-0780-007A-7860F3FFFE40}"/>
              </a:ext>
            </a:extLst>
          </p:cNvPr>
          <p:cNvSpPr txBox="1"/>
          <p:nvPr/>
        </p:nvSpPr>
        <p:spPr>
          <a:xfrm>
            <a:off x="10941424" y="1942983"/>
            <a:ext cx="22053176" cy="858290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5400" spc="16" dirty="0">
                <a:solidFill>
                  <a:srgbClr val="FFFFFF"/>
                </a:solidFill>
                <a:latin typeface="Arial"/>
                <a:cs typeface="Arial"/>
              </a:rPr>
              <a:t>School of Computer Science and Engineering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872EB-2457-28DC-1966-526C57A67652}"/>
              </a:ext>
            </a:extLst>
          </p:cNvPr>
          <p:cNvSpPr txBox="1"/>
          <p:nvPr/>
        </p:nvSpPr>
        <p:spPr>
          <a:xfrm>
            <a:off x="528916" y="4590627"/>
            <a:ext cx="14101483" cy="2506327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</a:p>
          <a:p>
            <a:pPr marR="120589">
              <a:lnSpc>
                <a:spcPts val="4000"/>
              </a:lnSpc>
            </a:pP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Bone fractures are a common medical condition that require accurate and timely diagnosis. Manual detection from X-ray images is time-consuming and prone to human error.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With advancements in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Computer Vision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automated fracture detection systems can assist radiologists by improving accuracy and efficiency.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following factors motivate this project: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Fractures are often small and difficult to detect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Misdiagnosis can lead to severe complications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Large-scale datasets enable training of robust models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This project presents a comparison of modern object detection algorithms for fracture detection in X-ray images.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Develop an automated system for fracture detection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Train multiple deep learning models for comparison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Evaluate performance using accuracy and </a:t>
            </a:r>
            <a:r>
              <a:rPr lang="en-IN" sz="40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 metrics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• Identify the best-performing model for medical diagnosis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SCOPE 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This system can assist healthcare professionals by providing: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Faster diagnosis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Improved accuracy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Reduced workload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It can be extended for detecting other medical abnormalities such as tumors and infections.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120589" algn="just">
              <a:lnSpc>
                <a:spcPts val="4000"/>
              </a:lnSpc>
            </a:pPr>
            <a:r>
              <a:rPr lang="en-US" sz="4400" b="1" cap="all" spc="25" dirty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</a:p>
          <a:p>
            <a:pPr marR="120589" algn="just">
              <a:lnSpc>
                <a:spcPts val="4000"/>
              </a:lnSpc>
            </a:pP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Image resizing and normalization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Data augmentation (flipping, rotation)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Dataset splitting (train / validation)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(continue…)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77F89E-1ED8-7C17-9B81-04DFD41146BE}"/>
              </a:ext>
            </a:extLst>
          </p:cNvPr>
          <p:cNvSpPr txBox="1"/>
          <p:nvPr/>
        </p:nvSpPr>
        <p:spPr>
          <a:xfrm>
            <a:off x="14894858" y="4662345"/>
            <a:ext cx="14101483" cy="2403735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Deep learning models automatically extract features such as: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Bone edges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Fracture lines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Texture variations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Backbone networks like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Networks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are used.</a:t>
            </a: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Models Used</a:t>
            </a: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1. YOLOv8 (You Only Look Once)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Single-stage detector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Fast and efficient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Performs detection in one pass</a:t>
            </a: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4000" b="1" dirty="0"/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EfficientNet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Deep learning model for feature extraction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Uses compound scaling (depth, width, resolution)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Efficient and high accuracy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Extracts important patterns like fracture lines and bone edges</a:t>
            </a: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RetinaNet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Uses focal loss to handle class imbalance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Effective for detecting small fractures</a:t>
            </a:r>
          </a:p>
          <a:p>
            <a:pPr algn="just"/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pPr algn="just"/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X-ray fracture dataset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Images labeled with bounding boxes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Training and validation split</a:t>
            </a:r>
            <a:endParaRPr lang="en-IN" sz="40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Training Details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Optimizer: Adam / SGD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Loss functions: Classification + Bounding box regression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Evaluation metric: mAP@50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5997F3-EE5D-448D-CA00-9047ABBAA947}"/>
              </a:ext>
            </a:extLst>
          </p:cNvPr>
          <p:cNvGrpSpPr/>
          <p:nvPr/>
        </p:nvGrpSpPr>
        <p:grpSpPr>
          <a:xfrm>
            <a:off x="15977681" y="19126402"/>
            <a:ext cx="11341942" cy="4553593"/>
            <a:chOff x="1837346" y="3230310"/>
            <a:chExt cx="7503206" cy="228918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70F4FB-75FD-1A16-DDF0-1E13CAD53C9F}"/>
                </a:ext>
              </a:extLst>
            </p:cNvPr>
            <p:cNvSpPr/>
            <p:nvPr/>
          </p:nvSpPr>
          <p:spPr>
            <a:xfrm>
              <a:off x="1837346" y="3230311"/>
              <a:ext cx="145278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Dataset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CC14D4-EA0C-0757-F5F7-C3B1E5EB5858}"/>
                </a:ext>
              </a:extLst>
            </p:cNvPr>
            <p:cNvSpPr/>
            <p:nvPr/>
          </p:nvSpPr>
          <p:spPr>
            <a:xfrm>
              <a:off x="7964679" y="4605098"/>
              <a:ext cx="1375873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Feature Extraction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78DA14-BC8F-396D-37F9-D4475BB62213}"/>
                </a:ext>
              </a:extLst>
            </p:cNvPr>
            <p:cNvSpPr/>
            <p:nvPr/>
          </p:nvSpPr>
          <p:spPr>
            <a:xfrm>
              <a:off x="4822086" y="4645012"/>
              <a:ext cx="1427148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Detection Output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6206B3-5ED1-A683-150F-522547BC0092}"/>
                </a:ext>
              </a:extLst>
            </p:cNvPr>
            <p:cNvSpPr/>
            <p:nvPr/>
          </p:nvSpPr>
          <p:spPr>
            <a:xfrm>
              <a:off x="4822086" y="3230310"/>
              <a:ext cx="1427148" cy="8516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Preprocessing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66CB6E-E0DA-3E2D-AA15-DDA473794530}"/>
                </a:ext>
              </a:extLst>
            </p:cNvPr>
            <p:cNvSpPr/>
            <p:nvPr/>
          </p:nvSpPr>
          <p:spPr>
            <a:xfrm>
              <a:off x="7853584" y="3230310"/>
              <a:ext cx="1486968" cy="85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Model Training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AC056F9-CFC7-F655-E39D-4B7F490E01C6}"/>
                </a:ext>
              </a:extLst>
            </p:cNvPr>
            <p:cNvCxnSpPr>
              <a:stCxn id="17" idx="3"/>
              <a:endCxn id="22" idx="1"/>
            </p:cNvCxnSpPr>
            <p:nvPr/>
          </p:nvCxnSpPr>
          <p:spPr>
            <a:xfrm flipV="1">
              <a:off x="3290131" y="3656119"/>
              <a:ext cx="1531955" cy="31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ECB715A-045C-F60E-B338-DB16BB4CC30F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 flipV="1">
              <a:off x="6249234" y="3655883"/>
              <a:ext cx="1604350" cy="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8436A3-A937-00AA-290D-BDDA5AA7845E}"/>
                </a:ext>
              </a:extLst>
            </p:cNvPr>
            <p:cNvCxnSpPr>
              <a:endCxn id="18" idx="0"/>
            </p:cNvCxnSpPr>
            <p:nvPr/>
          </p:nvCxnSpPr>
          <p:spPr>
            <a:xfrm>
              <a:off x="8652616" y="4081927"/>
              <a:ext cx="0" cy="52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7D66718-3FD2-032C-E617-1A3275EFE214}"/>
                </a:ext>
              </a:extLst>
            </p:cNvPr>
            <p:cNvCxnSpPr>
              <a:stCxn id="18" idx="1"/>
              <a:endCxn id="20" idx="3"/>
            </p:cNvCxnSpPr>
            <p:nvPr/>
          </p:nvCxnSpPr>
          <p:spPr>
            <a:xfrm flipH="1">
              <a:off x="6249234" y="5062298"/>
              <a:ext cx="1715445" cy="19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A1AC0546-F79A-08D8-EAF1-91055BE898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582249"/>
              </p:ext>
            </p:extLst>
          </p:nvPr>
        </p:nvGraphicFramePr>
        <p:xfrm>
          <a:off x="33440914" y="6114862"/>
          <a:ext cx="6008915" cy="3038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D3E3903C-07DC-4D82-B168-318A15EDD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600" y="10961119"/>
            <a:ext cx="7794169" cy="4183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96BD2C-5D09-3ED4-7BFE-CD02E6C95665}"/>
              </a:ext>
            </a:extLst>
          </p:cNvPr>
          <p:cNvSpPr txBox="1"/>
          <p:nvPr/>
        </p:nvSpPr>
        <p:spPr>
          <a:xfrm>
            <a:off x="21285200" y="29972000"/>
            <a:ext cx="211235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GIT HUB: https://</a:t>
            </a:r>
            <a:r>
              <a:rPr lang="en-US" sz="4000" dirty="0" err="1"/>
              <a:t>github.com</a:t>
            </a:r>
            <a:r>
              <a:rPr lang="en-US" sz="4000" dirty="0"/>
              <a:t>/</a:t>
            </a:r>
            <a:r>
              <a:rPr lang="en-US" sz="4000" dirty="0" err="1"/>
              <a:t>hkakati</a:t>
            </a:r>
            <a:r>
              <a:rPr lang="en-US" sz="4000" dirty="0"/>
              <a:t>/Fracture-Detection-from-x-ray-Images-Using-Machine-Learning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400796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</TotalTime>
  <Words>528</Words>
  <Application>Microsoft Macintosh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Harshit Kakati</cp:lastModifiedBy>
  <cp:revision>36</cp:revision>
  <dcterms:created xsi:type="dcterms:W3CDTF">2019-03-04T22:30:53Z</dcterms:created>
  <dcterms:modified xsi:type="dcterms:W3CDTF">2026-04-17T18:40:08Z</dcterms:modified>
</cp:coreProperties>
</file>